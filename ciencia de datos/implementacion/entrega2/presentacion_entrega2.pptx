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31520"/>
            <a:ext cx="10545775" cy="53949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188720"/>
            <a:ext cx="3291840" cy="438912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APRENDIZAJE NO SUPERVISADO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783080"/>
            <a:ext cx="941832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Clusterización de Hongos con K-Means</a:t>
            </a:r>
          </a:p>
          <a:p>
            <a:pPr>
              <a:spcBef>
                <a:spcPts val="800"/>
              </a:spcBef>
              <a:defRPr sz="2000" b="1">
                <a:solidFill>
                  <a:srgbClr val="059669"/>
                </a:solidFill>
              </a:defRPr>
            </a:pPr>
            <a:r>
              <a:t>Identificación de Morfotipos en el Secondary Mushroom Dataset</a:t>
            </a:r>
          </a:p>
          <a:p>
            <a:pPr>
              <a:spcBef>
                <a:spcPts val="600"/>
              </a:spcBef>
              <a:defRPr sz="1500">
                <a:solidFill>
                  <a:srgbClr val="475569"/>
                </a:solidFill>
              </a:defRPr>
            </a:pPr>
            <a:r>
              <a:t>Segunda Entrega de Trabajo Práctico | Ciencia de Datos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343400"/>
            <a:ext cx="2194560" cy="1280160"/>
          </a:xfrm>
          <a:prstGeom prst="roundRect">
            <a:avLst/>
          </a:prstGeom>
          <a:solidFill>
            <a:srgbClr val="F1F5F9"/>
          </a:solidFill>
          <a:ln w="1778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507992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4F46E5"/>
                </a:solidFill>
              </a:defRPr>
            </a:pPr>
            <a:r>
              <a:t>60.923</a:t>
            </a:r>
          </a:p>
          <a:p>
            <a:pPr algn="ctr">
              <a:spcBef>
                <a:spcPts val="200"/>
              </a:spcBef>
              <a:defRPr sz="1200" b="1">
                <a:solidFill>
                  <a:srgbClr val="1E293B"/>
                </a:solidFill>
              </a:defRPr>
            </a:pPr>
            <a:r>
              <a:t>Especímenes Limpios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6200" y="4343400"/>
            <a:ext cx="2194560" cy="1280160"/>
          </a:xfrm>
          <a:prstGeom prst="roundRect">
            <a:avLst/>
          </a:prstGeom>
          <a:solidFill>
            <a:srgbClr val="F1F5F9"/>
          </a:solidFill>
          <a:ln w="1778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0" y="4507992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059669"/>
                </a:solidFill>
              </a:defRPr>
            </a:pPr>
            <a:r>
              <a:t>13</a:t>
            </a:r>
          </a:p>
          <a:p>
            <a:pPr algn="ctr">
              <a:spcBef>
                <a:spcPts val="200"/>
              </a:spcBef>
              <a:defRPr sz="1200" b="1">
                <a:solidFill>
                  <a:srgbClr val="1E293B"/>
                </a:solidFill>
              </a:defRPr>
            </a:pPr>
            <a:r>
              <a:t>Variables Morfológicas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343400"/>
            <a:ext cx="2194560" cy="1280160"/>
          </a:xfrm>
          <a:prstGeom prst="roundRect">
            <a:avLst/>
          </a:prstGeom>
          <a:solidFill>
            <a:srgbClr val="F1F5F9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507992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D97706"/>
                </a:solidFill>
              </a:defRPr>
            </a:pPr>
            <a:r>
              <a:t>K = 6</a:t>
            </a:r>
          </a:p>
          <a:p>
            <a:pPr algn="ctr">
              <a:spcBef>
                <a:spcPts val="200"/>
              </a:spcBef>
              <a:defRPr sz="1200" b="1">
                <a:solidFill>
                  <a:srgbClr val="1E293B"/>
                </a:solidFill>
              </a:defRPr>
            </a:pPr>
            <a:r>
              <a:t>Clusters Seleccionados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4343400"/>
            <a:ext cx="2194560" cy="1280160"/>
          </a:xfrm>
          <a:prstGeom prst="roundRect">
            <a:avLst/>
          </a:prstGeom>
          <a:solidFill>
            <a:srgbClr val="F1F5F9"/>
          </a:solidFill>
          <a:ln w="1778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4507992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E11D48"/>
                </a:solidFill>
              </a:defRPr>
            </a:pPr>
            <a:r>
              <a:t>0.8425</a:t>
            </a:r>
          </a:p>
          <a:p>
            <a:pPr algn="ctr">
              <a:spcBef>
                <a:spcPts val="200"/>
              </a:spcBef>
              <a:defRPr sz="1200" b="1">
                <a:solidFill>
                  <a:srgbClr val="1E293B"/>
                </a:solidFill>
              </a:defRPr>
            </a:pPr>
            <a:r>
              <a:t>Índice Davies-Bouldin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4F46E5"/>
                </a:solidFill>
              </a:defRPr>
            </a:pPr>
            <a:r>
              <a:t>FASE PRELIMINAR</a:t>
            </a:r>
          </a:p>
          <a:p>
            <a:pPr>
              <a:spcBef>
                <a:spcPts val="200"/>
              </a:spcBef>
              <a:defRPr sz="2500" b="1">
                <a:solidFill>
                  <a:srgbClr val="0F172A"/>
                </a:solidFill>
              </a:defRPr>
            </a:pPr>
            <a:r>
              <a:t>Introducción y Visión General del Proyecto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212080" cy="2331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🎯 Propósito de la Segunda Entrega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• Agrupamiento no supervisado mediante K-Means sobre el Secondary Mushroom Dataset.</a:t>
            </a:r>
            <a:br/>
            <a:r>
              <a:t>• Particionar los hongos según sus rasgos morfológicos externos observables.</a:t>
            </a:r>
            <a:br/>
            <a:r>
              <a:t>• Excluir intencionalmente la variable 'class' (comestible/venenoso) para simular la catalogación taxonómica botánica real.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212080" cy="2331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55448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🔬 Metas Analíticas Concretas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• Depurar el dataset original (&gt;61k filas), eliminando registros duplicados y dimensiones vacías.</a:t>
            </a:r>
            <a:br/>
            <a:r>
              <a:t>• Comparar modelos con diferente número de clusters (K=5 vs K=6) usando Silhouette y Davies-Bouldin.</a:t>
            </a:r>
            <a:br/>
            <a:r>
              <a:t>• Nombrar y caracterizar cada cluster descubierto en base a su perfil fenotípico dominante.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26060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06908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D97706"/>
                </a:solidFill>
              </a:defRPr>
            </a:pPr>
            <a:r>
              <a:t>PIPELINE INTEGRAL DE EJECUCIÓN (6 PASOS METODOLÓGICOS)</a:t>
            </a:r>
          </a:p>
        </p:txBody>
      </p:sp>
      <p:pic>
        <p:nvPicPr>
          <p:cNvPr id="9" name="Picture 8" descr="img_pipeline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434840"/>
            <a:ext cx="10424160" cy="23215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4F46E5"/>
                </a:solidFill>
              </a:defRPr>
            </a:pPr>
            <a:r>
              <a:t>TRANSFORMACIÓN DE DATOS</a:t>
            </a:r>
          </a:p>
          <a:p>
            <a:pPr>
              <a:spcBef>
                <a:spcPts val="200"/>
              </a:spcBef>
              <a:defRPr sz="2500" b="1">
                <a:solidFill>
                  <a:srgbClr val="0F172A"/>
                </a:solidFill>
              </a:defRPr>
            </a:pPr>
            <a:r>
              <a:t>1. Transformaciones: Dataset Original vs Actual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328416" cy="5029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296265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FILAS &amp; REGISTROS</a:t>
            </a:r>
          </a:p>
          <a:p>
            <a:pPr>
              <a:spcBef>
                <a:spcPts val="400"/>
              </a:spcBef>
              <a:defRPr sz="2100" b="1">
                <a:solidFill>
                  <a:srgbClr val="0F172A"/>
                </a:solidFill>
              </a:defRPr>
            </a:pPr>
            <a:r>
              <a:t>61.069  ➔  60.923</a:t>
            </a:r>
          </a:p>
          <a:p>
            <a:br/>
            <a:pPr>
              <a:defRPr sz="1250">
                <a:solidFill>
                  <a:srgbClr val="1E293B"/>
                </a:solidFill>
              </a:defRPr>
            </a:pPr>
            <a:r>
              <a:t>• -146 Duplicados Exactos:</a:t>
            </a:r>
            <a:br/>
            <a:r>
              <a:t>Se eliminaron observaciones idénticas que distorsionaban el centro de gravedad de los centroides euclídeos.</a:t>
            </a:r>
            <a:br/>
            <a:br/>
            <a:r>
              <a:t>• Integridad Muestral:</a:t>
            </a:r>
            <a:br/>
            <a:r>
              <a:t>Se conservó el 99.76% del volumen original sin descartar familias ni géneros de hongos.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6552" y="1417320"/>
            <a:ext cx="3328416" cy="5029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99432" y="1600200"/>
            <a:ext cx="296265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COLUMNAS Y VARIABLES</a:t>
            </a:r>
          </a:p>
          <a:p>
            <a:pPr>
              <a:spcBef>
                <a:spcPts val="400"/>
              </a:spcBef>
              <a:defRPr sz="2100" b="1">
                <a:solidFill>
                  <a:srgbClr val="0F172A"/>
                </a:solidFill>
              </a:defRPr>
            </a:pPr>
            <a:r>
              <a:t>21 vars  ➔  13 morfo</a:t>
            </a:r>
          </a:p>
          <a:p>
            <a:br/>
            <a:pPr>
              <a:defRPr sz="1250">
                <a:solidFill>
                  <a:srgbClr val="1E293B"/>
                </a:solidFill>
              </a:defRPr>
            </a:pPr>
            <a:r>
              <a:t>• Exclusión de 'class':</a:t>
            </a:r>
            <a:br/>
            <a:r>
              <a:t>Descarte de etiqueta supervisada (comestible vs venenoso).</a:t>
            </a:r>
            <a:br/>
            <a:br/>
            <a:r>
              <a:t>• Poda de 4 columnas críticas:</a:t>
            </a:r>
            <a:br/>
            <a:r>
              <a:t>stem-root, veil-type, veil-color y spore-print (&gt;70% vacías).</a:t>
            </a:r>
            <a:br/>
            <a:br/>
            <a:r>
              <a:t>• Variables de contexto fuera:</a:t>
            </a:r>
            <a:br/>
            <a:r>
              <a:t>habitat y season removidas para aislar la fisonomía física.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01584" y="1417320"/>
            <a:ext cx="3328416" cy="5029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84464" y="1600200"/>
            <a:ext cx="296265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LAS 13 MORFOLÓGICAS</a:t>
            </a:r>
          </a:p>
          <a:p>
            <a:pPr>
              <a:spcBef>
                <a:spcPts val="400"/>
              </a:spcBef>
              <a:defRPr sz="2100" b="1">
                <a:solidFill>
                  <a:srgbClr val="0F172A"/>
                </a:solidFill>
              </a:defRPr>
            </a:pPr>
            <a:r>
              <a:t>Anatomía del Hongo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🍄 Sombrero (Pileus):</a:t>
            </a:r>
            <a:br/>
            <a:r>
              <a:t>cap-diameter, cap-shape, cap-surface, cap-color.</a:t>
            </a:r>
            <a:br/>
            <a:br/>
            <a:r>
              <a:t>🌱 Pie (Estípite):</a:t>
            </a:r>
            <a:br/>
            <a:r>
              <a:t>stem-height, stem-width, stem-color, stem-surface.</a:t>
            </a:r>
            <a:br/>
            <a:br/>
            <a:r>
              <a:t>🍂 Láminas (Himenio):</a:t>
            </a:r>
            <a:br/>
            <a:r>
              <a:t>gill-color, gill-attachment, gill-spacing.</a:t>
            </a:r>
            <a:br/>
            <a:br/>
            <a:r>
              <a:t>💍 Anillo (Velo):</a:t>
            </a:r>
            <a:br/>
            <a:r>
              <a:t>has-ring, ring-type.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4F46E5"/>
                </a:solidFill>
              </a:defRPr>
            </a:pPr>
            <a:r>
              <a:t>CURACIÓN DE DATOS</a:t>
            </a:r>
          </a:p>
          <a:p>
            <a:pPr>
              <a:spcBef>
                <a:spcPts val="200"/>
              </a:spcBef>
              <a:defRPr sz="2500" b="1">
                <a:solidFill>
                  <a:srgbClr val="0F172A"/>
                </a:solidFill>
              </a:defRPr>
            </a:pPr>
            <a:r>
              <a:t>2. Tratamiento Riguroso de Datos Nulos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6217920" cy="5029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11D48"/>
                </a:solidFill>
              </a:defRPr>
            </a:pPr>
            <a:r>
              <a:t>DIAGNÓSTICO DE VALORES NULOS POR VARIABLE</a:t>
            </a:r>
          </a:p>
        </p:txBody>
      </p:sp>
      <p:pic>
        <p:nvPicPr>
          <p:cNvPr id="5" name="Picture 4" descr="img_nulos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5852160" cy="235877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23760" y="1417320"/>
            <a:ext cx="4206240" cy="1554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55448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1. Poda Crítica (&gt;70% Nulos)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Se eliminaron 4 columnas (stem-root 85%, veil-type 95%, veil-color 88%, spore-print 73%). Imputar con &gt;70% de ausencia falsearía el espacio métrico.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3154680"/>
            <a:ext cx="4206240" cy="1554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329184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2. Imputación por Mediana (Numéricas)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Para cap-diameter, stem-height y stem-width (&lt;2% nulos). La mediana protege el centroide de valores atípicos y distribuciones asimétricas.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4892040"/>
            <a:ext cx="4206240" cy="1554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502920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3. Imputación por Moda (Categóricas)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Para cap-surface, stem-surface, gill-attachment (&lt;19% nulos). Imputa la categoría morfológica dominante sin añadir clases inventadas.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4F46E5"/>
                </a:solidFill>
              </a:defRPr>
            </a:pPr>
            <a:r>
              <a:t>FUNDAMENTO TEÓRICO</a:t>
            </a:r>
          </a:p>
          <a:p>
            <a:pPr>
              <a:spcBef>
                <a:spcPts val="200"/>
              </a:spcBef>
              <a:defRPr sz="2500" b="1">
                <a:solidFill>
                  <a:srgbClr val="0F172A"/>
                </a:solidFill>
              </a:defRPr>
            </a:pPr>
            <a:r>
              <a:t>3. Algoritmo K-Means: Concepto y Mecanismo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394960" cy="2057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9377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¿Qué es K-Means?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Algoritmo de aprendizaje no supervisado de tipo particional.</a:t>
            </a:r>
            <a:br/>
            <a:r>
              <a:t>• Objetivo: dividir N observaciones en K grupos disjuntos.</a:t>
            </a:r>
            <a:br/>
            <a:r>
              <a:t>• Minimiza la inercia intra-cluster (WCSS):</a:t>
            </a:r>
            <a:br/>
            <a:r>
              <a:t>   WCSS = ∑ ∑ ||x_i - μ_j||²</a:t>
            </a:r>
            <a:br/>
            <a:r>
              <a:t>• Genera clusters compactos y cohesivos en el espacio métrico.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17320"/>
            <a:ext cx="5029200" cy="2057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1554480"/>
            <a:ext cx="45720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Ciclo de 4 Etapas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1. Inicialización (k-means++): semillas dispersas con distancia probabilística.</a:t>
            </a:r>
            <a:br/>
            <a:r>
              <a:t>2. Asignación: cada hongo va al centroide euclídeo más cercano.</a:t>
            </a:r>
            <a:br/>
            <a:r>
              <a:t>3. Recálculo: los centroides se actualizan al promedio del cluster.</a:t>
            </a:r>
            <a:br/>
            <a:r>
              <a:t>4. Convergencia: repite hasta variación nula (tol=1e-4).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10698480" cy="2788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74903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DIAGRAMA DEL PROCESO ITERATIVO DE K-MEANS</a:t>
            </a:r>
          </a:p>
        </p:txBody>
      </p:sp>
      <p:pic>
        <p:nvPicPr>
          <p:cNvPr id="9" name="Picture 8" descr="img_kmeans_diagrama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69080"/>
            <a:ext cx="10332720" cy="30890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4F46E5"/>
                </a:solidFill>
              </a:defRPr>
            </a:pPr>
            <a:r>
              <a:t>EXPERIMENTACIÓN Y MÉTRICAS</a:t>
            </a:r>
          </a:p>
          <a:p>
            <a:pPr>
              <a:spcBef>
                <a:spcPts val="200"/>
              </a:spcBef>
              <a:defRPr sz="2500" b="1">
                <a:solidFill>
                  <a:srgbClr val="0F172A"/>
                </a:solidFill>
              </a:defRPr>
            </a:pPr>
            <a:r>
              <a:t>3. Preprocesamiento Vectorial y Selección de 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480560" cy="5029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4023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PREPARACIÓN DE DATOS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• StandardScaler:</a:t>
            </a:r>
            <a:br/>
            <a:r>
              <a:t>Estandariza variables numéricas (media 0, std 1) para evitar que mm dominen sobre cm.</a:t>
            </a:r>
            <a:br/>
            <a:br/>
            <a:r>
              <a:t>• OneHotEncoder:</a:t>
            </a:r>
            <a:br/>
            <a:r>
              <a:t>Convierte 10 variables categóricas en vectores binarios ortogonales sin inducir falso orden.</a:t>
            </a:r>
            <a:br/>
            <a:br/>
            <a:r>
              <a:t>• PCA 2D:</a:t>
            </a:r>
            <a:br/>
            <a:r>
              <a:t>Proyección a 2 componentes principales (32.9% de varianza explicada) para inspección visual.</a:t>
            </a:r>
          </a:p>
          <a:p>
            <a:br/>
            <a:pPr>
              <a:defRPr sz="1300" b="1">
                <a:solidFill>
                  <a:srgbClr val="059669"/>
                </a:solidFill>
              </a:defRPr>
            </a:pPr>
            <a:r>
              <a:t>¿POR QUÉ ELEGIMOS K=6?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• Silhouette Score:</a:t>
            </a:r>
            <a:br/>
            <a:r>
              <a:t>K=5: 0.3426  vs  K=6: 0.3284</a:t>
            </a:r>
            <a:br/>
            <a:r>
              <a:t>(Ambos &gt;0.32, excelente cohesión).</a:t>
            </a:r>
            <a:br/>
            <a:br/>
            <a:r>
              <a:t>• Davies-Bouldin (Menor es mejor):</a:t>
            </a:r>
            <a:br/>
            <a:r>
              <a:t>K=5: 0.8722  vs  K=6: 0.8425</a:t>
            </a:r>
            <a:br/>
            <a:r>
              <a:t>K=6 logra clusters con menor dispersión y mayor nitidez.</a:t>
            </a:r>
            <a:br/>
            <a:br/>
            <a:r>
              <a:t>• Aísla hongos raros gigantes y separa pies largos de porosos.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417320"/>
            <a:ext cx="5943600" cy="2377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metricas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508760"/>
            <a:ext cx="5760720" cy="230837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0" y="3977639"/>
            <a:ext cx="5943600" cy="24688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g_scatter_comp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4069080"/>
            <a:ext cx="5760720" cy="20752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4F46E5"/>
                </a:solidFill>
              </a:defRPr>
            </a:pPr>
            <a:r>
              <a:t>RESULTADOS DEL CLUSTERING</a:t>
            </a:r>
          </a:p>
          <a:p>
            <a:pPr>
              <a:spcBef>
                <a:spcPts val="200"/>
              </a:spcBef>
              <a:defRPr sz="2500" b="1">
                <a:solidFill>
                  <a:srgbClr val="0F172A"/>
                </a:solidFill>
              </a:defRPr>
            </a:pPr>
            <a:r>
              <a:t>4. Visión Global de los 6 Clusters (Modelo K=6)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760720" cy="5029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t>PROYECCIÓN DE PUNTOS PCA 2D (K=6)</a:t>
            </a:r>
          </a:p>
        </p:txBody>
      </p:sp>
      <p:pic>
        <p:nvPicPr>
          <p:cNvPr id="5" name="Picture 4" descr="img_scatter_k6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5486400" cy="354620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66560" y="1417320"/>
            <a:ext cx="4663440" cy="5029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554480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DISTRIBUCIÓN DE TAMAÑOS POR CLUSTER</a:t>
            </a:r>
          </a:p>
        </p:txBody>
      </p:sp>
      <p:pic>
        <p:nvPicPr>
          <p:cNvPr id="8" name="Picture 7" descr="img_barras_k6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920240"/>
            <a:ext cx="4389120" cy="20958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4F46E5"/>
                </a:solidFill>
              </a:defRPr>
            </a:pPr>
            <a:r>
              <a:t>DESCRIPCIÓN DE MORFOTIPOS</a:t>
            </a:r>
          </a:p>
          <a:p>
            <a:pPr>
              <a:spcBef>
                <a:spcPts val="200"/>
              </a:spcBef>
              <a:defRPr sz="2500" b="1">
                <a:solidFill>
                  <a:srgbClr val="0F172A"/>
                </a:solidFill>
              </a:defRPr>
            </a:pPr>
            <a:r>
              <a:t>4. Caracterización de Clusters: C0, C1 y C2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328416" cy="5029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296265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● Cluster 0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</a:defRPr>
            </a:pPr>
            <a:r>
              <a:t>Anillados convexos marrones</a:t>
            </a:r>
          </a:p>
          <a:p>
            <a:pPr>
              <a:spcBef>
                <a:spcPts val="400"/>
              </a:spcBef>
              <a:defRPr sz="1250" b="1">
                <a:solidFill>
                  <a:srgbClr val="4F46E5"/>
                </a:solidFill>
              </a:defRPr>
            </a:pPr>
            <a:r>
              <a:t>Volumen: 9,221 (15.1%)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📏 Dimensiones:</a:t>
            </a:r>
            <a:br/>
            <a:r>
              <a:t>Sombrero: 6.0 cm | Pie: 6.8 cm alto, 10.1 mm ancho</a:t>
            </a:r>
            <a:br/>
            <a:br/>
            <a:r>
              <a:t>💍 Anillo:</a:t>
            </a:r>
            <a:br/>
            <a:r>
              <a:t>100.0% con anillo evidente (has-ring='t')</a:t>
            </a:r>
            <a:br/>
            <a:br/>
            <a:r>
              <a:t>🔬 Características Clave:</a:t>
            </a:r>
            <a:br/>
            <a:r>
              <a:t>• Sombrero convexo ('x') de tono castaño ('n') o amarillo ('y').</a:t>
            </a:r>
            <a:br/>
            <a:r>
              <a:t>• Presencia obligatoria de anillo membranoso.</a:t>
            </a:r>
            <a:br/>
            <a:r>
              <a:t>• Láminas adnatas cerradas y pie cilíndrico blanquecino.</a:t>
            </a:r>
            <a:br/>
            <a:r>
              <a:t>• Morfotipo clásico de setas de campo tradicionales.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6552" y="1417320"/>
            <a:ext cx="3328416" cy="5029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99432" y="1600200"/>
            <a:ext cx="296265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11D48"/>
                </a:solidFill>
              </a:defRPr>
            </a:pPr>
            <a:r>
              <a:t>● Cluster 1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</a:defRPr>
            </a:pPr>
            <a:r>
              <a:t>Grandes de poros (Boletales)</a:t>
            </a:r>
          </a:p>
          <a:p>
            <a:pPr>
              <a:spcBef>
                <a:spcPts val="400"/>
              </a:spcBef>
              <a:defRPr sz="1250" b="1">
                <a:solidFill>
                  <a:srgbClr val="E11D48"/>
                </a:solidFill>
              </a:defRPr>
            </a:pPr>
            <a:r>
              <a:t>Volumen: 4,957 (8.1%)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📏 Dimensiones:</a:t>
            </a:r>
            <a:br/>
            <a:r>
              <a:t>Sombrero: 13.6 cm | Pie: 9.4 cm alto, 34.3 mm ancho (Muy grueso)</a:t>
            </a:r>
            <a:br/>
            <a:br/>
            <a:r>
              <a:t>💍 Anillo:</a:t>
            </a:r>
            <a:br/>
            <a:r>
              <a:t>0.1% con anillo (prácticamente ausente)</a:t>
            </a:r>
            <a:br/>
            <a:br/>
            <a:r>
              <a:t>🔬 Características Clave:</a:t>
            </a:r>
            <a:br/>
            <a:r>
              <a:t>• Estípite sumamente engrosado y masivo (~34.3 mm).</a:t>
            </a:r>
            <a:br/>
            <a:r>
              <a:t>• Himenio característico de poros o decurrente (gill-attachment='p').</a:t>
            </a:r>
            <a:br/>
            <a:r>
              <a:t>• Sombrero ancho marrón oscuro o blanquecino.</a:t>
            </a:r>
            <a:br/>
            <a:r>
              <a:t>• Morfología típica del orden Boletales.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01584" y="1417320"/>
            <a:ext cx="3328416" cy="5029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84464" y="1600200"/>
            <a:ext cx="296265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● Cluster 2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</a:defRPr>
            </a:pPr>
            <a:r>
              <a:t>Pegajosos sin anillo (Morfología Media)</a:t>
            </a:r>
          </a:p>
          <a:p>
            <a:pPr>
              <a:spcBef>
                <a:spcPts val="400"/>
              </a:spcBef>
              <a:defRPr sz="1250" b="1">
                <a:solidFill>
                  <a:srgbClr val="059669"/>
                </a:solidFill>
              </a:defRPr>
            </a:pPr>
            <a:r>
              <a:t>Volumen: 19,642 (32.2%)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📏 Dimensiones:</a:t>
            </a:r>
            <a:br/>
            <a:r>
              <a:t>Sombrero: 7.7 cm | Pie: 6.2 cm alto, 14.9 mm ancho</a:t>
            </a:r>
            <a:br/>
            <a:br/>
            <a:r>
              <a:t>💍 Anillo:</a:t>
            </a:r>
            <a:br/>
            <a:r>
              <a:t>7.7% con anillo (mayoritariamente desnudos)</a:t>
            </a:r>
            <a:br/>
            <a:br/>
            <a:r>
              <a:t>🔬 Características Clave:</a:t>
            </a:r>
            <a:br/>
            <a:r>
              <a:t>• Segundo cluster más numeroso (32.2% del dataset).</a:t>
            </a:r>
            <a:br/>
            <a:r>
              <a:t>• Cutícula típicamente lisa o viscosa/pegajosa (cap-surface='t').</a:t>
            </a:r>
            <a:br/>
            <a:r>
              <a:t>• Láminas decurrentes o adnatas de tonos marrones.</a:t>
            </a:r>
            <a:br/>
            <a:r>
              <a:t>• Estípite estándar sin estructuras anulares visibles.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4F46E5"/>
                </a:solidFill>
              </a:defRPr>
            </a:pPr>
            <a:r>
              <a:t>DESCRIPCIÓN DE MORFOTIPOS</a:t>
            </a:r>
          </a:p>
          <a:p>
            <a:pPr>
              <a:spcBef>
                <a:spcPts val="200"/>
              </a:spcBef>
              <a:defRPr sz="2500" b="1">
                <a:solidFill>
                  <a:srgbClr val="0F172A"/>
                </a:solidFill>
              </a:defRPr>
            </a:pPr>
            <a:r>
              <a:t>4. Caracterización de Clusters: C3, C4 y C5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328416" cy="5029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296265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● Cluster 3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</a:defRPr>
            </a:pPr>
            <a:r>
              <a:t>Pequeños sin anillo (Gráciles / Micenas)</a:t>
            </a:r>
          </a:p>
          <a:p>
            <a:pPr>
              <a:spcBef>
                <a:spcPts val="400"/>
              </a:spcBef>
              <a:defRPr sz="1250" b="1">
                <a:solidFill>
                  <a:srgbClr val="D97706"/>
                </a:solidFill>
              </a:defRPr>
            </a:pPr>
            <a:r>
              <a:t>Volumen: 21,964 (36.1%)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📏 Dimensiones:</a:t>
            </a:r>
            <a:br/>
            <a:r>
              <a:t>Sombrero: 3.0 cm | Pie: 4.7 cm alto, 4.5 mm ancho (Muy delgado)</a:t>
            </a:r>
            <a:br/>
            <a:br/>
            <a:r>
              <a:t>💍 Anillo:</a:t>
            </a:r>
            <a:br/>
            <a:r>
              <a:t>3.2% con anillo (96.8% desnudos)</a:t>
            </a:r>
            <a:br/>
            <a:br/>
            <a:r>
              <a:t>🔬 Características Clave:</a:t>
            </a:r>
            <a:br/>
            <a:r>
              <a:t>• El cluster más abundante del dataset (36.1%).</a:t>
            </a:r>
            <a:br/>
            <a:r>
              <a:t>• Hongos menudos y gráciles de pie filiforme (~4.5 mm).</a:t>
            </a:r>
            <a:br/>
            <a:r>
              <a:t>• Sombrero diminuto (~3.0 cm) y láminas adnatas apretadas.</a:t>
            </a:r>
            <a:br/>
            <a:r>
              <a:t>• Crecimiento típicamente gregario sobre hojarasca o corteza.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6552" y="1417320"/>
            <a:ext cx="3328416" cy="5029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99432" y="1600200"/>
            <a:ext cx="296265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● Cluster 4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</a:defRPr>
            </a:pPr>
            <a:r>
              <a:t>Esféricos gigantes amarillos (Raros)</a:t>
            </a:r>
          </a:p>
          <a:p>
            <a:pPr>
              <a:spcBef>
                <a:spcPts val="400"/>
              </a:spcBef>
              <a:defRPr sz="1250" b="1">
                <a:solidFill>
                  <a:srgbClr val="0284C7"/>
                </a:solidFill>
              </a:defRPr>
            </a:pPr>
            <a:r>
              <a:t>Volumen: 353 (0.6%)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📏 Dimensiones:</a:t>
            </a:r>
            <a:br/>
            <a:r>
              <a:t>Sombrero: 50.3 cm (Gigante) | Pie: 6.5 cm, 35.1 mm ancho</a:t>
            </a:r>
            <a:br/>
            <a:br/>
            <a:r>
              <a:t>💍 Anillo:</a:t>
            </a:r>
            <a:br/>
            <a:r>
              <a:t>0.0% con anillo</a:t>
            </a:r>
            <a:br/>
            <a:br/>
            <a:r>
              <a:t>🔬 Características Clave:</a:t>
            </a:r>
            <a:br/>
            <a:r>
              <a:t>• Cluster altamente singular y homogéneo (0.6%).</a:t>
            </a:r>
            <a:br/>
            <a:r>
              <a:t>• Sombrero esférico monumental (cap-shape='o', 100%).</a:t>
            </a:r>
            <a:br/>
            <a:r>
              <a:t>• Coloración amarilla brillante ('y', 100%) con poros.</a:t>
            </a:r>
            <a:br/>
            <a:r>
              <a:t>• Morfología concordante con bejines gigantes (Calvatia).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01584" y="1417320"/>
            <a:ext cx="3328416" cy="5029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84464" y="1600200"/>
            <a:ext cx="296265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2410C"/>
                </a:solidFill>
              </a:defRPr>
            </a:pPr>
            <a:r>
              <a:t>● Cluster 5</a:t>
            </a:r>
          </a:p>
          <a:p>
            <a:pPr>
              <a:spcBef>
                <a:spcPts val="200"/>
              </a:spcBef>
              <a:defRPr sz="1400" b="1">
                <a:solidFill>
                  <a:srgbClr val="0F172A"/>
                </a:solidFill>
              </a:defRPr>
            </a:pPr>
            <a:r>
              <a:t>Grandes blancos de pie alto (Esbeltos)</a:t>
            </a:r>
          </a:p>
          <a:p>
            <a:pPr>
              <a:spcBef>
                <a:spcPts val="400"/>
              </a:spcBef>
              <a:defRPr sz="1250" b="1">
                <a:solidFill>
                  <a:srgbClr val="C2410C"/>
                </a:solidFill>
              </a:defRPr>
            </a:pPr>
            <a:r>
              <a:t>Volumen: 4,786 (7.9%)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📏 Dimensiones:</a:t>
            </a:r>
            <a:br/>
            <a:r>
              <a:t>Sombrero: 10.7 cm | Pie: 13.9 cm alto (Muy alto), 15.8 mm ancho</a:t>
            </a:r>
            <a:br/>
            <a:br/>
            <a:r>
              <a:t>💍 Anillo:</a:t>
            </a:r>
            <a:br/>
            <a:r>
              <a:t>78.0% con anillo membranoso</a:t>
            </a:r>
            <a:br/>
            <a:br/>
            <a:r>
              <a:t>🔬 Características Clave:</a:t>
            </a:r>
            <a:br/>
            <a:r>
              <a:t>• Especímenes esbeltos de gran longitud de estípite (~14 cm).</a:t>
            </a:r>
            <a:br/>
            <a:r>
              <a:t>• Sombrero amplio predominantemente blanco o pálido.</a:t>
            </a:r>
            <a:br/>
            <a:r>
              <a:t>• Elevada presencia de anillo (78%) e inserción libre/emarginada.</a:t>
            </a:r>
            <a:br/>
            <a:r>
              <a:t>• Perfil similar a especies de géneros Amanita o Lepiota.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4F46E5"/>
                </a:solidFill>
              </a:defRPr>
            </a:pPr>
            <a:r>
              <a:t>CIERRE DE LA ENTREGA</a:t>
            </a:r>
          </a:p>
          <a:p>
            <a:pPr>
              <a:spcBef>
                <a:spcPts val="200"/>
              </a:spcBef>
              <a:defRPr sz="2500" b="1">
                <a:solidFill>
                  <a:srgbClr val="0F172A"/>
                </a:solidFill>
              </a:defRPr>
            </a:pPr>
            <a:r>
              <a:t>Síntesis de Resultados y Conclusiones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120640" cy="2377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1. Curación Exitosa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• Descarte de 146 duplicados exactos.</a:t>
            </a:r>
            <a:br/>
            <a:r>
              <a:t>• Eliminación de 4 columnas con &gt;70% de datos faltantes.</a:t>
            </a:r>
            <a:br/>
            <a:r>
              <a:t>• Imputación por mediana y moda que preservó el 99.76% de los ejemplares sin distorsionar centroides.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120640" cy="2377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60020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2. Aislamiento No Supervisado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• Se excluyó rigurosamente la etiqueta 'class' (comestible/venenoso).</a:t>
            </a:r>
            <a:br/>
            <a:r>
              <a:t>• El modelo agrupó por afinidad física pura, reproduciendo la metodología de clasificación botánica real.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69080"/>
            <a:ext cx="5120640" cy="2377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25196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3. Validación Geométrica (K=6)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• Davies-Bouldin de 0.8425 (superior a K=5 con 0.8722).</a:t>
            </a:r>
            <a:br/>
            <a:r>
              <a:t>• Coeficiente de Silhouette de 0.3284 confirma cohesión sólida.</a:t>
            </a:r>
            <a:br/>
            <a:r>
              <a:t>• PCA 2D explica el 32.9% de varianza facilitando la interpretabilidad visual.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69080"/>
            <a:ext cx="5120640" cy="2377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25196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11D48"/>
                </a:solidFill>
              </a:defRPr>
            </a:pPr>
            <a:r>
              <a:t>4. Taxonomía de los 6 Grupos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• Gran nitidez morfológica entre hongos pequeños (C3), gigantes porosos (C1), pies altos (C5) y singulares esféricos (C4).</a:t>
            </a:r>
            <a:br/>
            <a:r>
              <a:t>• Base limpia con cluster asignado guardada en 'dataset_clustering.csv'.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